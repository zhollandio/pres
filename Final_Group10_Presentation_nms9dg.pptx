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72" r:id="rId2"/>
    <p:sldId id="276" r:id="rId3"/>
    <p:sldId id="277" r:id="rId4"/>
    <p:sldId id="278" r:id="rId5"/>
    <p:sldId id="274" r:id="rId6"/>
    <p:sldId id="275" r:id="rId7"/>
    <p:sldId id="256" r:id="rId8"/>
    <p:sldId id="281" r:id="rId9"/>
    <p:sldId id="287" r:id="rId10"/>
    <p:sldId id="283" r:id="rId11"/>
    <p:sldId id="288" r:id="rId12"/>
    <p:sldId id="284" r:id="rId13"/>
    <p:sldId id="289" r:id="rId14"/>
    <p:sldId id="290" r:id="rId15"/>
    <p:sldId id="285" r:id="rId16"/>
    <p:sldId id="291" r:id="rId17"/>
    <p:sldId id="28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9FF"/>
    <a:srgbClr val="DCEAF7"/>
    <a:srgbClr val="F0F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961BD5-2C2A-322A-8905-DFA7F2730F78}" v="1346" dt="2025-03-26T23:52:26.6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A0979-F579-4E9B-A675-1F5ABBFF00DB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952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7156E-175E-4DBA-9D21-B772C320F342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119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95F6E-3D02-4292-95D1-C62B3126321B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290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B5ACB-D10C-44A8-9570-124370F4CB38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397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D84F4-0E7A-4BDE-98C6-AE68FB974645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058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FF1D8-9801-4C4B-92F3-66C9A863BD74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1344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FE8FD-B23E-4E1A-83EF-0847EBEA0105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4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891E-A7C2-465C-AD39-8EDCB0F58E3C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8208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F93E5-AFB6-485C-8E3C-32F92A07875F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351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D0F-5A12-4D0A-80B0-1A6122B61E7B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162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E8C84-89CA-44AB-B0BE-5C91BAF75478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492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3A332BE1-279E-4118-9FE3-7952B079A510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526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zndream/ShipRSImageNet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5A3385-7A97-4B91-90E4-313A5F648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2350" y="3338512"/>
            <a:ext cx="8197850" cy="1287618"/>
          </a:xfrm>
        </p:spPr>
        <p:txBody>
          <a:bodyPr vert="horz" lIns="91440" tIns="45720" rIns="91440" bIns="45720" rtlCol="0" anchor="b" anchorCtr="0">
            <a:no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Maritime Vessel Detection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600243-42CA-42D2-A56A-C6924D272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62450" y="4629304"/>
            <a:ext cx="9144000" cy="1098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000" b="1" cap="all" spc="600" dirty="0">
                <a:solidFill>
                  <a:srgbClr val="FFFFFF"/>
                </a:solidFill>
              </a:rPr>
              <a:t>DS 6050 - Group 10</a:t>
            </a:r>
          </a:p>
        </p:txBody>
      </p:sp>
      <p:pic>
        <p:nvPicPr>
          <p:cNvPr id="9" name="Picture Placeholder 8" descr="GitHub - debasis-dotcom/Ship-Detection-from-Satellite-Images-using-YOLOV4: Ship  detection from remote sensing imagery is a crucial application for maritime  security which includes among others traffic surveillance, protection  against illegal fisheries ...">
            <a:extLst>
              <a:ext uri="{FF2B5EF4-FFF2-40B4-BE49-F238E27FC236}">
                <a16:creationId xmlns:a16="http://schemas.microsoft.com/office/drawing/2014/main" id="{D7C71B65-3C97-9A46-92FB-9F14D9B6E27E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2">
            <a:alphaModFix amt="50000"/>
          </a:blip>
          <a:srcRect t="18585" b="436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612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09714-3C2B-7F48-36FB-DAABF62C4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759" y="-1693"/>
            <a:ext cx="10653578" cy="1132258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Group 10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AA272-7A1F-2AA7-446E-80D10812A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7869" y="1673199"/>
            <a:ext cx="2751355" cy="46291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800" dirty="0"/>
              <a:t>Bardia Nikpour</a:t>
            </a:r>
            <a:endParaRPr lang="en-US" sz="2800"/>
          </a:p>
          <a:p>
            <a:pPr marL="0" indent="0" algn="ctr">
              <a:buNone/>
            </a:pPr>
            <a:r>
              <a:rPr lang="en-US" sz="1100" b="1" dirty="0">
                <a:ea typeface="+mn-lt"/>
                <a:cs typeface="+mn-lt"/>
              </a:rPr>
              <a:t>DevOps Engineer</a:t>
            </a:r>
            <a:endParaRPr lang="en-US" b="1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/>
              <a:t>M.S Data Science (In-Progress)</a:t>
            </a:r>
          </a:p>
          <a:p>
            <a:pPr marL="0" indent="0" algn="ctr">
              <a:buNone/>
            </a:pPr>
            <a:r>
              <a:rPr lang="en-US" sz="1100" dirty="0">
                <a:ea typeface="+mn-lt"/>
                <a:cs typeface="+mn-lt"/>
              </a:rPr>
              <a:t>B.S Computer Engineering 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8B44C-31C6-A3C2-A9DB-5C9D4512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C9E00-DD6E-4034-9437-99B12CB795BB}" type="datetime1">
              <a:rPr lang="en-US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753F7-22AC-2CF7-1738-DF448169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EBD95-63B5-A088-2E14-DAAE42EAC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2</a:t>
            </a:fld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2485D1D-13F2-B647-C7B3-5C6CC72BFEEF}"/>
              </a:ext>
            </a:extLst>
          </p:cNvPr>
          <p:cNvSpPr txBox="1">
            <a:spLocks/>
          </p:cNvSpPr>
          <p:nvPr/>
        </p:nvSpPr>
        <p:spPr>
          <a:xfrm>
            <a:off x="1160158" y="1677432"/>
            <a:ext cx="2264522" cy="46291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dirty="0"/>
              <a:t>Kevin Guan</a:t>
            </a:r>
          </a:p>
          <a:p>
            <a:pPr marL="0" indent="0" algn="ctr">
              <a:buNone/>
            </a:pPr>
            <a:r>
              <a:rPr lang="en-US" sz="1100" b="1"/>
              <a:t>Quality Engineer</a:t>
            </a:r>
            <a:endParaRPr lang="en-US" sz="110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/>
              <a:t>M.S Data Science (In-Progress)</a:t>
            </a:r>
          </a:p>
          <a:p>
            <a:pPr marL="0" indent="0" algn="ctr">
              <a:buNone/>
            </a:pPr>
            <a:r>
              <a:rPr lang="en-US" sz="1100"/>
              <a:t>B.S. Biological Engineering</a:t>
            </a:r>
            <a:endParaRPr lang="en-US" sz="1100" dirty="0"/>
          </a:p>
          <a:p>
            <a:pPr marL="0" indent="0" algn="ctr">
              <a:buNone/>
            </a:pPr>
            <a:endParaRPr lang="en-US" sz="1100" b="1" dirty="0"/>
          </a:p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05CB13C-FBE3-09BD-D29C-234762F4372E}"/>
              </a:ext>
            </a:extLst>
          </p:cNvPr>
          <p:cNvSpPr txBox="1">
            <a:spLocks/>
          </p:cNvSpPr>
          <p:nvPr/>
        </p:nvSpPr>
        <p:spPr>
          <a:xfrm>
            <a:off x="8438670" y="1674611"/>
            <a:ext cx="3033578" cy="46291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dirty="0"/>
              <a:t>Zachary Holland</a:t>
            </a:r>
          </a:p>
          <a:p>
            <a:pPr marL="0" indent="0" algn="ctr">
              <a:buNone/>
            </a:pPr>
            <a:r>
              <a:rPr lang="en-US" sz="1100" b="1" dirty="0"/>
              <a:t>Data Scientist/DevOps Engineer</a:t>
            </a:r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/>
              <a:t>         M.S Data Science (In-Progress)</a:t>
            </a:r>
            <a:endParaRPr lang="en-US"/>
          </a:p>
          <a:p>
            <a:pPr marL="0" indent="0" algn="ctr">
              <a:spcBef>
                <a:spcPts val="1500"/>
              </a:spcBef>
              <a:buNone/>
            </a:pPr>
            <a:r>
              <a:rPr lang="en-US" sz="1100" dirty="0"/>
              <a:t>  B.S Computer Science </a:t>
            </a:r>
          </a:p>
          <a:p>
            <a:pPr marL="0" indent="0" algn="ctr">
              <a:spcBef>
                <a:spcPts val="1500"/>
              </a:spcBef>
              <a:buNone/>
            </a:pPr>
            <a:r>
              <a:rPr lang="en-US" sz="1100" dirty="0"/>
              <a:t>  B.S Applied Mathematics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149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1B7B6-9B4B-BF98-B8B4-F0715C490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148" y="-1693"/>
            <a:ext cx="10653578" cy="1132258"/>
          </a:xfrm>
        </p:spPr>
        <p:txBody>
          <a:bodyPr/>
          <a:lstStyle/>
          <a:p>
            <a:pPr algn="ctr"/>
            <a:r>
              <a:rPr lang="en-US" sz="3200" dirty="0">
                <a:ea typeface="+mj-lt"/>
                <a:cs typeface="+mj-lt"/>
              </a:rPr>
              <a:t>Problem Statement</a:t>
            </a:r>
            <a:r>
              <a:rPr lang="en-US" b="0" dirty="0">
                <a:ea typeface="+mj-lt"/>
                <a:cs typeface="+mj-lt"/>
              </a:rPr>
              <a:t>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9F48C-7431-974C-29AF-095F2ED2D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480" y="932365"/>
            <a:ext cx="10653579" cy="503197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This project aims to compare and evaluate several popular deep learning approaches for maritime vessel detection in satellite imagery. We want to:</a:t>
            </a:r>
          </a:p>
          <a:p>
            <a:pPr>
              <a:buNone/>
            </a:pPr>
            <a:endParaRPr lang="en-US" dirty="0"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dirty="0">
                <a:ea typeface="+mn-lt"/>
                <a:cs typeface="+mn-lt"/>
              </a:rPr>
              <a:t>Compare the performance of three widely-used object detection models on the </a:t>
            </a:r>
            <a:r>
              <a:rPr lang="en-US" dirty="0" err="1">
                <a:ea typeface="+mn-lt"/>
                <a:cs typeface="+mn-lt"/>
              </a:rPr>
              <a:t>ShipRSImageNet</a:t>
            </a:r>
            <a:r>
              <a:rPr lang="en-US" dirty="0">
                <a:ea typeface="+mn-lt"/>
                <a:cs typeface="+mn-lt"/>
              </a:rPr>
              <a:t> dataset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>
                <a:ea typeface="+mn-lt"/>
                <a:cs typeface="+mn-lt"/>
              </a:rPr>
              <a:t>Examine how different backbone architectures affect detection results when used with certain models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dirty="0">
                <a:ea typeface="+mn-lt"/>
                <a:cs typeface="+mn-lt"/>
              </a:rPr>
              <a:t>Analyze the trade-offs between detection accuracy, localization precision, and computational requirements for these different configurations</a:t>
            </a:r>
            <a:endParaRPr lang="en-US" dirty="0"/>
          </a:p>
          <a:p>
            <a:pPr marL="457200" indent="-457200">
              <a:buAutoNum type="arabicPeriod"/>
            </a:pPr>
            <a:endParaRPr lang="en-US" b="1" dirty="0">
              <a:ea typeface="+mn-lt"/>
              <a:cs typeface="+mn-lt"/>
            </a:endParaRPr>
          </a:p>
          <a:p>
            <a:pPr>
              <a:buAutoNum type="arabicPeriod"/>
            </a:pPr>
            <a:endParaRPr lang="en-US" b="1" dirty="0"/>
          </a:p>
          <a:p>
            <a:pPr>
              <a:buAutoNum type="arabicPeriod"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8653F-1A89-6F24-67B0-2D80F69E8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914B9-B600-46E5-AC57-3B5F41B5F2A0}" type="datetime1">
              <a:rPr lang="en-US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E55DC-1F19-4C71-01CE-664D944F2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DC5B7-6BD8-09C4-8386-6FA30C2AF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526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D4B51-B43F-112A-A08C-175F48D4F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748" y="173990"/>
            <a:ext cx="5071928" cy="630608"/>
          </a:xfrm>
        </p:spPr>
        <p:txBody>
          <a:bodyPr>
            <a:normAutofit/>
          </a:bodyPr>
          <a:lstStyle/>
          <a:p>
            <a:r>
              <a:rPr lang="en-US" sz="3200" dirty="0"/>
              <a:t>Motivation &amp;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9FD57-FB18-079E-BB83-11618EAA8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47" y="1029732"/>
            <a:ext cx="7046779" cy="53304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Military Applications:</a:t>
            </a:r>
            <a:endParaRPr lang="en-US" dirty="0"/>
          </a:p>
          <a:p>
            <a:pPr lvl="1"/>
            <a:r>
              <a:rPr lang="en-US" sz="1400" b="1" dirty="0">
                <a:ea typeface="+mn-lt"/>
                <a:cs typeface="+mn-lt"/>
              </a:rPr>
              <a:t>Threat Analysis:</a:t>
            </a:r>
            <a:r>
              <a:rPr lang="en-US" sz="1400" dirty="0">
                <a:ea typeface="+mn-lt"/>
                <a:cs typeface="+mn-lt"/>
              </a:rPr>
              <a:t> Help prevent/detect smuggling, piracy, terrorist activities, military posture</a:t>
            </a:r>
          </a:p>
          <a:p>
            <a:pPr lvl="1"/>
            <a:r>
              <a:rPr lang="en-US" sz="1400" b="1" dirty="0">
                <a:ea typeface="+mn-lt"/>
                <a:cs typeface="+mn-lt"/>
              </a:rPr>
              <a:t>Rapid Response:</a:t>
            </a:r>
            <a:r>
              <a:rPr lang="en-US" sz="1400" dirty="0">
                <a:ea typeface="+mn-lt"/>
                <a:cs typeface="+mn-lt"/>
              </a:rPr>
              <a:t> Faster detection supports data driven decision-making</a:t>
            </a: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Commercial Applications:</a:t>
            </a:r>
            <a:endParaRPr lang="en-US" dirty="0"/>
          </a:p>
          <a:p>
            <a:pPr lvl="1"/>
            <a:r>
              <a:rPr lang="en-US" sz="1400" b="1" dirty="0">
                <a:ea typeface="+mn-lt"/>
                <a:cs typeface="+mn-lt"/>
              </a:rPr>
              <a:t>Optimized Shipping Routes:</a:t>
            </a:r>
            <a:r>
              <a:rPr lang="en-US" sz="1400" dirty="0">
                <a:ea typeface="+mn-lt"/>
                <a:cs typeface="+mn-lt"/>
              </a:rPr>
              <a:t> Improves traffic flow and scheduling</a:t>
            </a:r>
            <a:endParaRPr lang="en-US" sz="1400" dirty="0"/>
          </a:p>
          <a:p>
            <a:pPr lvl="1"/>
            <a:r>
              <a:rPr lang="en-US" sz="1400" b="1" dirty="0">
                <a:ea typeface="+mn-lt"/>
                <a:cs typeface="+mn-lt"/>
              </a:rPr>
              <a:t>Illegal Fishing Detection:</a:t>
            </a:r>
            <a:r>
              <a:rPr lang="en-US" sz="1400" dirty="0">
                <a:ea typeface="+mn-lt"/>
                <a:cs typeface="+mn-lt"/>
              </a:rPr>
              <a:t> Flags violations for authorities</a:t>
            </a:r>
            <a:endParaRPr lang="en-US" sz="1400" dirty="0"/>
          </a:p>
          <a:p>
            <a:pPr marL="228600"/>
            <a:endParaRPr lang="en-US" b="1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Challenges</a:t>
            </a:r>
          </a:p>
          <a:p>
            <a:pPr lvl="1"/>
            <a:r>
              <a:rPr lang="en-US" sz="1400" b="1" dirty="0">
                <a:ea typeface="+mn-lt"/>
                <a:cs typeface="+mn-lt"/>
              </a:rPr>
              <a:t>High Background Noise: </a:t>
            </a:r>
            <a:r>
              <a:rPr lang="en-US" sz="1400" dirty="0">
                <a:ea typeface="+mn-lt"/>
                <a:cs typeface="+mn-lt"/>
              </a:rPr>
              <a:t>Water, waves, and clutter cause false positives or hide small vessels</a:t>
            </a:r>
            <a:endParaRPr lang="en-US" sz="1400" dirty="0"/>
          </a:p>
          <a:p>
            <a:pPr lvl="1"/>
            <a:r>
              <a:rPr lang="en-US" sz="1400" b="1" dirty="0">
                <a:ea typeface="+mn-lt"/>
                <a:cs typeface="+mn-lt"/>
              </a:rPr>
              <a:t>Environmental Conditions: </a:t>
            </a:r>
            <a:r>
              <a:rPr lang="en-US" sz="1400" dirty="0">
                <a:ea typeface="+mn-lt"/>
                <a:cs typeface="+mn-lt"/>
              </a:rPr>
              <a:t>Weather and lighting changes obscure vessels and affect image quality</a:t>
            </a:r>
          </a:p>
          <a:p>
            <a:pPr lvl="1"/>
            <a:r>
              <a:rPr lang="en-US" sz="1400" b="1" dirty="0">
                <a:ea typeface="+mn-lt"/>
                <a:cs typeface="+mn-lt"/>
              </a:rPr>
              <a:t>Scalability : </a:t>
            </a:r>
            <a:r>
              <a:rPr lang="en-US" sz="1400" dirty="0">
                <a:ea typeface="+mn-lt"/>
                <a:cs typeface="+mn-lt"/>
              </a:rPr>
              <a:t>Vast areas and diverse ship types demand efficient, adaptable algorithms</a:t>
            </a:r>
            <a:endParaRPr lang="en-US" sz="1400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E23F3-2D69-1E9A-ADA4-D073F5FD3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CF553-EE0D-40A9-8B1D-F86C5CA0013A}" type="datetime1">
              <a:rPr lang="en-US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8FB7B-2237-CC25-CBA3-A38B8C8C4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F3D6A-4556-AACD-EA7E-AF66B6EFE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4</a:t>
            </a:fld>
            <a:endParaRPr lang="en-US" dirty="0"/>
          </a:p>
        </p:txBody>
      </p:sp>
      <p:pic>
        <p:nvPicPr>
          <p:cNvPr id="7" name="Picture 6" descr="A map of the world&#10;&#10;AI-generated content may be incorrect.">
            <a:extLst>
              <a:ext uri="{FF2B5EF4-FFF2-40B4-BE49-F238E27FC236}">
                <a16:creationId xmlns:a16="http://schemas.microsoft.com/office/drawing/2014/main" id="{AC3BC135-54D3-F9E8-31BF-81D6CF59D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3213253"/>
            <a:ext cx="3568700" cy="3149294"/>
          </a:xfrm>
          <a:prstGeom prst="rect">
            <a:avLst/>
          </a:prstGeom>
        </p:spPr>
      </p:pic>
      <p:pic>
        <p:nvPicPr>
          <p:cNvPr id="8" name="Picture 7" descr="Kraków-based Satim secures €1.8 million to transform satellite data into  actionable insights for military and maritime sectors | EU-Startups">
            <a:extLst>
              <a:ext uri="{FF2B5EF4-FFF2-40B4-BE49-F238E27FC236}">
                <a16:creationId xmlns:a16="http://schemas.microsoft.com/office/drawing/2014/main" id="{295EAC7A-919D-027D-0D2D-F36963451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0500" y="429929"/>
            <a:ext cx="3943349" cy="256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666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306BC-A8A7-EDC9-EEE7-96AA58CB1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960" y="88655"/>
            <a:ext cx="4236984" cy="639905"/>
          </a:xfrm>
        </p:spPr>
        <p:txBody>
          <a:bodyPr anchor="t">
            <a:noAutofit/>
          </a:bodyPr>
          <a:lstStyle/>
          <a:p>
            <a:r>
              <a:rPr lang="en-US" sz="3200" b="1" dirty="0"/>
              <a:t>Dataset Overview </a:t>
            </a:r>
          </a:p>
        </p:txBody>
      </p:sp>
      <p:pic>
        <p:nvPicPr>
          <p:cNvPr id="14" name="Picture 13" descr="image">
            <a:extLst>
              <a:ext uri="{FF2B5EF4-FFF2-40B4-BE49-F238E27FC236}">
                <a16:creationId xmlns:a16="http://schemas.microsoft.com/office/drawing/2014/main" id="{16A2C21E-7BBA-2EAE-837B-FF90CCDA3E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41" t="22113" r="1921" b="31430"/>
          <a:stretch/>
        </p:blipFill>
        <p:spPr>
          <a:xfrm>
            <a:off x="5706208" y="344633"/>
            <a:ext cx="5924230" cy="6046494"/>
          </a:xfrm>
          <a:prstGeom prst="rect">
            <a:avLst/>
          </a:prstGeom>
          <a:noFill/>
        </p:spPr>
      </p:pic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4265F3A2-F6F6-4CAD-EE45-585788D7F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3960" y="803349"/>
            <a:ext cx="4916434" cy="5727028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ea typeface="+mn-lt"/>
                <a:cs typeface="+mn-lt"/>
              </a:rPr>
              <a:t>Dataset: </a:t>
            </a:r>
            <a:r>
              <a:rPr lang="en-US" dirty="0">
                <a:ea typeface="+mn-lt"/>
                <a:cs typeface="+mn-lt"/>
                <a:hlinkClick r:id="rId3"/>
              </a:rPr>
              <a:t>ShipRSImageNet</a:t>
            </a:r>
            <a:endParaRPr lang="en-US"/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~3,435 high-resolution images &amp; 17,573 ship instances</a:t>
            </a:r>
            <a:endParaRPr lang="en-US"/>
          </a:p>
          <a:p>
            <a:pPr marL="742950" lvl="1" indent="-285750">
              <a:buFont typeface="Courier New"/>
              <a:buChar char="o"/>
            </a:pPr>
            <a:r>
              <a:rPr lang="en-US" b="1" dirty="0">
                <a:ea typeface="+mn-lt"/>
                <a:cs typeface="+mn-lt"/>
              </a:rPr>
              <a:t>Multi-source</a:t>
            </a:r>
            <a:r>
              <a:rPr lang="en-US" dirty="0">
                <a:ea typeface="+mn-lt"/>
                <a:cs typeface="+mn-lt"/>
              </a:rPr>
              <a:t> data </a:t>
            </a:r>
          </a:p>
          <a:p>
            <a:pPr marL="1200150" lvl="2" indent="-285750">
              <a:buFont typeface="Wingdings"/>
              <a:buChar char="§"/>
            </a:pPr>
            <a:r>
              <a:rPr lang="en-US" dirty="0">
                <a:ea typeface="+mn-lt"/>
                <a:cs typeface="+mn-lt"/>
              </a:rPr>
              <a:t>WorldView-3</a:t>
            </a:r>
          </a:p>
          <a:p>
            <a:pPr marL="1200150" lvl="2" indent="-285750">
              <a:buFont typeface="Wingdings"/>
              <a:buChar char="§"/>
            </a:pPr>
            <a:r>
              <a:rPr lang="en-US" dirty="0" err="1">
                <a:ea typeface="+mn-lt"/>
                <a:cs typeface="+mn-lt"/>
              </a:rPr>
              <a:t>xView</a:t>
            </a:r>
            <a:endParaRPr lang="en-US" dirty="0">
              <a:ea typeface="+mn-lt"/>
              <a:cs typeface="+mn-lt"/>
            </a:endParaRPr>
          </a:p>
          <a:p>
            <a:pPr marL="1200150" lvl="2" indent="-285750">
              <a:buFont typeface="Wingdings"/>
              <a:buChar char="§"/>
            </a:pPr>
            <a:r>
              <a:rPr lang="en-US" dirty="0">
                <a:ea typeface="+mn-lt"/>
                <a:cs typeface="+mn-lt"/>
              </a:rPr>
              <a:t>HRSC2016</a:t>
            </a:r>
          </a:p>
          <a:p>
            <a:pPr marL="1200150" lvl="2" indent="-285750">
              <a:buFont typeface="Wingdings"/>
              <a:buChar char="§"/>
            </a:pPr>
            <a:r>
              <a:rPr lang="en-US" dirty="0">
                <a:ea typeface="+mn-lt"/>
                <a:cs typeface="+mn-lt"/>
              </a:rPr>
              <a:t>FGSD</a:t>
            </a:r>
          </a:p>
          <a:p>
            <a:pPr marL="1200150" lvl="2" indent="-285750">
              <a:buFont typeface="Wingdings"/>
              <a:buChar char="§"/>
            </a:pPr>
            <a:r>
              <a:rPr lang="en-US" dirty="0">
                <a:ea typeface="+mn-lt"/>
                <a:cs typeface="+mn-lt"/>
              </a:rPr>
              <a:t>Airbus</a:t>
            </a:r>
            <a:endParaRPr lang="en-US" dirty="0"/>
          </a:p>
          <a:p>
            <a:pPr marL="1200150" lvl="2" indent="-285750">
              <a:buFont typeface="Wingdings,Sans-Serif"/>
              <a:buChar char="§"/>
            </a:pPr>
            <a:r>
              <a:rPr lang="en-US" dirty="0">
                <a:ea typeface="+mn-lt"/>
                <a:cs typeface="+mn-lt"/>
              </a:rPr>
              <a:t>GaoFen-2 (Chinese Satellite)</a:t>
            </a:r>
          </a:p>
          <a:p>
            <a:pPr marL="1200150" lvl="2" indent="-285750">
              <a:buFont typeface="Wingdings,Sans-Serif"/>
              <a:buChar char="§"/>
            </a:pPr>
            <a:r>
              <a:rPr lang="en-US" dirty="0">
                <a:ea typeface="+mn-lt"/>
                <a:cs typeface="+mn-lt"/>
              </a:rPr>
              <a:t>JiLin-1 (Chinese Satellite)</a:t>
            </a:r>
            <a:endParaRPr lang="en-US" dirty="0"/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50 ship classes (commercial, military) with horizontal, oriented, and polygon bounding boxes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Characteristics:</a:t>
            </a:r>
            <a:endParaRPr lang="en-US" dirty="0"/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Images around </a:t>
            </a:r>
            <a:r>
              <a:rPr lang="en-US" b="1" dirty="0">
                <a:ea typeface="+mn-lt"/>
                <a:cs typeface="+mn-lt"/>
              </a:rPr>
              <a:t>930×930</a:t>
            </a:r>
            <a:r>
              <a:rPr lang="en-US" dirty="0">
                <a:ea typeface="+mn-lt"/>
                <a:cs typeface="+mn-lt"/>
              </a:rPr>
              <a:t> pixels</a:t>
            </a:r>
            <a:endParaRPr lang="en-US"/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Highly </a:t>
            </a:r>
            <a:r>
              <a:rPr lang="en-US" b="1" dirty="0">
                <a:ea typeface="+mn-lt"/>
                <a:cs typeface="+mn-lt"/>
              </a:rPr>
              <a:t>variable conditions</a:t>
            </a:r>
            <a:r>
              <a:rPr lang="en-US" dirty="0">
                <a:ea typeface="+mn-lt"/>
                <a:cs typeface="+mn-lt"/>
              </a:rPr>
              <a:t>:</a:t>
            </a:r>
          </a:p>
          <a:p>
            <a:pPr marL="1200150" lvl="2" indent="-285750">
              <a:buFont typeface="Wingdings"/>
              <a:buChar char="§"/>
            </a:pPr>
            <a:r>
              <a:rPr lang="en-US" dirty="0">
                <a:ea typeface="+mn-lt"/>
                <a:cs typeface="+mn-lt"/>
              </a:rPr>
              <a:t>Geography</a:t>
            </a:r>
          </a:p>
          <a:p>
            <a:pPr marL="1200150" lvl="2" indent="-285750">
              <a:buFont typeface="Wingdings"/>
              <a:buChar char="§"/>
            </a:pPr>
            <a:r>
              <a:rPr lang="en-US" dirty="0">
                <a:ea typeface="+mn-lt"/>
                <a:cs typeface="+mn-lt"/>
              </a:rPr>
              <a:t>Resolutions</a:t>
            </a:r>
          </a:p>
          <a:p>
            <a:pPr marL="1200150" lvl="2" indent="-285750">
              <a:buFont typeface="Wingdings"/>
              <a:buChar char="§"/>
            </a:pPr>
            <a:r>
              <a:rPr lang="en-US" dirty="0">
                <a:ea typeface="+mn-lt"/>
                <a:cs typeface="+mn-lt"/>
              </a:rPr>
              <a:t>Weather</a:t>
            </a:r>
            <a:endParaRPr lang="en-US" dirty="0"/>
          </a:p>
          <a:p>
            <a:endParaRPr lang="en-US" dirty="0"/>
          </a:p>
        </p:txBody>
      </p:sp>
      <p:sp>
        <p:nvSpPr>
          <p:cNvPr id="17" name="Date Placeholder 4">
            <a:extLst>
              <a:ext uri="{FF2B5EF4-FFF2-40B4-BE49-F238E27FC236}">
                <a16:creationId xmlns:a16="http://schemas.microsoft.com/office/drawing/2014/main" id="{874CE1FA-5F9F-7450-95F9-C0D4F774EC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43DB929-E375-4CF6-95CD-23B0694A9897}" type="datetime1">
              <a:rPr lang="en-US"/>
              <a:pPr>
                <a:spcAft>
                  <a:spcPts val="600"/>
                </a:spcAft>
              </a:pPr>
              <a:t>4/30/2025</a:t>
            </a:fld>
            <a:endParaRPr lang="en-US"/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2DFCB8AB-B756-2F3D-549F-03CA0B226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453002"/>
            <a:ext cx="2805405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25" name="Slide Number Placeholder 6">
            <a:extLst>
              <a:ext uri="{FF2B5EF4-FFF2-40B4-BE49-F238E27FC236}">
                <a16:creationId xmlns:a16="http://schemas.microsoft.com/office/drawing/2014/main" id="{AD056D34-C22B-4849-7F1E-FB08F9B64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453002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dirty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611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C28647-FC73-0621-2B65-A47DE7434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DB7B-4B27-8DF0-14A3-89C2A0B32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175"/>
            <a:ext cx="10515600" cy="766763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ea typeface="+mj-lt"/>
                <a:cs typeface="+mj-lt"/>
              </a:rPr>
              <a:t>Augmentation &amp; Preprocessing</a:t>
            </a:r>
            <a:endParaRPr lang="en-US" sz="2800" b="1" dirty="0"/>
          </a:p>
        </p:txBody>
      </p:sp>
      <p:pic>
        <p:nvPicPr>
          <p:cNvPr id="3" name="Picture 2" descr="A aerial view of a city&#10;&#10;AI-generated content may be incorrect.">
            <a:extLst>
              <a:ext uri="{FF2B5EF4-FFF2-40B4-BE49-F238E27FC236}">
                <a16:creationId xmlns:a16="http://schemas.microsoft.com/office/drawing/2014/main" id="{1E3E15D6-54A1-9278-CA98-8EA8B016B3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513" t="15506" r="12065" b="8764"/>
          <a:stretch/>
        </p:blipFill>
        <p:spPr>
          <a:xfrm>
            <a:off x="8382000" y="838968"/>
            <a:ext cx="3237134" cy="33500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4F8287-7EB9-DC62-7C19-256895DD6AEC}"/>
              </a:ext>
            </a:extLst>
          </p:cNvPr>
          <p:cNvSpPr txBox="1"/>
          <p:nvPr/>
        </p:nvSpPr>
        <p:spPr>
          <a:xfrm>
            <a:off x="241300" y="838200"/>
            <a:ext cx="7899400" cy="33547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>
                <a:ea typeface="+mn-lt"/>
                <a:cs typeface="+mn-lt"/>
              </a:rPr>
              <a:t>Annotation Verification</a:t>
            </a:r>
          </a:p>
          <a:p>
            <a:endParaRPr lang="en-US" sz="1200" b="1" dirty="0">
              <a:ea typeface="+mn-lt"/>
              <a:cs typeface="+mn-lt"/>
            </a:endParaRPr>
          </a:p>
          <a:p>
            <a:pPr marL="628650" lvl="1" indent="-171450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Inspect and correct bounding boxes or misalignment or label inaccuracies</a:t>
            </a:r>
            <a:endParaRPr lang="en-US" sz="1200" dirty="0"/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400" b="1" dirty="0">
                <a:ea typeface="+mn-lt"/>
                <a:cs typeface="+mn-lt"/>
              </a:rPr>
              <a:t>Image Resizing &amp; Normalization</a:t>
            </a:r>
          </a:p>
          <a:p>
            <a:endParaRPr lang="en-US" sz="1200" b="1" dirty="0">
              <a:ea typeface="+mn-lt"/>
              <a:cs typeface="+mn-lt"/>
            </a:endParaRPr>
          </a:p>
          <a:p>
            <a:pPr marL="628650" lvl="1" indent="-171450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Standardize image dimensions and normalize pixel values for consistent model input</a:t>
            </a:r>
          </a:p>
          <a:p>
            <a:pPr marL="171450" indent="-171450">
              <a:buFont typeface="Arial"/>
              <a:buChar char="•"/>
            </a:pPr>
            <a:endParaRPr lang="en-US" sz="1200" dirty="0">
              <a:ea typeface="+mn-lt"/>
              <a:cs typeface="+mn-lt"/>
            </a:endParaRPr>
          </a:p>
          <a:p>
            <a:r>
              <a:rPr lang="en-US" sz="1400" b="1" dirty="0">
                <a:ea typeface="+mn-lt"/>
                <a:cs typeface="+mn-lt"/>
              </a:rPr>
              <a:t>Data Splitting</a:t>
            </a:r>
          </a:p>
          <a:p>
            <a:endParaRPr lang="en-US" sz="1200" b="1" dirty="0">
              <a:ea typeface="+mn-lt"/>
              <a:cs typeface="+mn-lt"/>
            </a:endParaRPr>
          </a:p>
          <a:p>
            <a:pPr marL="628650" lvl="1" indent="-171450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Divide data into train, validation, and test sets with no scene overlap, ensuring vessel type balance</a:t>
            </a:r>
            <a:endParaRPr lang="en-US" sz="1200" dirty="0"/>
          </a:p>
          <a:p>
            <a:endParaRPr lang="en-US" sz="1200" b="1" dirty="0"/>
          </a:p>
          <a:p>
            <a:r>
              <a:rPr lang="en-US" sz="1400" b="1" dirty="0"/>
              <a:t>Augmentation Techniques</a:t>
            </a:r>
          </a:p>
          <a:p>
            <a:endParaRPr lang="en-US" sz="1200" b="1" dirty="0"/>
          </a:p>
          <a:p>
            <a:pPr marL="685800" lvl="1" indent="-228600">
              <a:buFont typeface="Arial"/>
              <a:buChar char="•"/>
            </a:pPr>
            <a:r>
              <a:rPr lang="en-US" sz="1200" b="1" dirty="0"/>
              <a:t>Geometric Transforms:</a:t>
            </a:r>
            <a:r>
              <a:rPr lang="en-US" sz="1200" dirty="0"/>
              <a:t> Random flips (horizontal/vertical), rotations, cropping</a:t>
            </a:r>
          </a:p>
          <a:p>
            <a:pPr marL="685800" lvl="1" indent="-228600">
              <a:buFont typeface="Arial"/>
              <a:buChar char="•"/>
            </a:pPr>
            <a:r>
              <a:rPr lang="en-US" sz="1200" b="1" dirty="0"/>
              <a:t>Color &amp; Lighting Adjustments:</a:t>
            </a:r>
            <a:r>
              <a:rPr lang="en-US" sz="1200" dirty="0"/>
              <a:t> Brightness/contrast jitter, hue shifts</a:t>
            </a:r>
          </a:p>
          <a:p>
            <a:pPr marL="685800" lvl="1" indent="-228600">
              <a:buFont typeface="Arial"/>
              <a:buChar char="•"/>
            </a:pPr>
            <a:r>
              <a:rPr lang="en-US" sz="1200" b="1" dirty="0"/>
              <a:t>Synthetic Overlays:</a:t>
            </a:r>
            <a:r>
              <a:rPr lang="en-US" sz="1200" dirty="0"/>
              <a:t> Partial cloud cover, wave clutter, fog effects to mimic real-world conditions</a:t>
            </a:r>
          </a:p>
        </p:txBody>
      </p:sp>
      <p:pic>
        <p:nvPicPr>
          <p:cNvPr id="8" name="Picture 7" descr="A aerial view of a city&#10;&#10;AI-generated content may be incorrect.">
            <a:extLst>
              <a:ext uri="{FF2B5EF4-FFF2-40B4-BE49-F238E27FC236}">
                <a16:creationId xmlns:a16="http://schemas.microsoft.com/office/drawing/2014/main" id="{8097E9E5-8473-900D-9116-AF43A3FA6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4636132"/>
            <a:ext cx="9505950" cy="201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296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E48A3-F286-B77F-BEBE-4F3843808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926" y="75918"/>
            <a:ext cx="10653578" cy="1132258"/>
          </a:xfrm>
        </p:spPr>
        <p:txBody>
          <a:bodyPr>
            <a:normAutofit/>
          </a:bodyPr>
          <a:lstStyle/>
          <a:p>
            <a:r>
              <a:rPr lang="en-US" sz="3200" dirty="0"/>
              <a:t>Proposed Methodology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8E8ADE-CFD6-96DA-B5C6-FA7B886314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925" y="861810"/>
            <a:ext cx="7132857" cy="5454605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Model Comparison: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Faster R-CNN</a:t>
            </a:r>
            <a:r>
              <a:rPr lang="en-US" dirty="0">
                <a:ea typeface="+mn-lt"/>
                <a:cs typeface="+mn-lt"/>
              </a:rPr>
              <a:t>: Two-stage detector with a Region Proposal Network (RPN) for high accuracy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YOLOv8</a:t>
            </a:r>
            <a:r>
              <a:rPr lang="en-US" dirty="0">
                <a:ea typeface="+mn-lt"/>
                <a:cs typeface="+mn-lt"/>
              </a:rPr>
              <a:t>: Single-stage, end-to-end detection known for real-time or near real-time performance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 err="1">
                <a:ea typeface="+mn-lt"/>
                <a:cs typeface="+mn-lt"/>
              </a:rPr>
              <a:t>EfficientDet</a:t>
            </a:r>
            <a:r>
              <a:rPr lang="en-US" dirty="0">
                <a:ea typeface="+mn-lt"/>
                <a:cs typeface="+mn-lt"/>
              </a:rPr>
              <a:t>: Employs compound scaling for balanced accuracy/efficiency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u="sng" dirty="0">
                <a:ea typeface="+mn-lt"/>
                <a:cs typeface="+mn-lt"/>
              </a:rPr>
              <a:t>Uniform Training Settings</a:t>
            </a:r>
            <a:r>
              <a:rPr lang="en-US" dirty="0">
                <a:ea typeface="+mn-lt"/>
                <a:cs typeface="+mn-lt"/>
              </a:rPr>
              <a:t>: Standard preprocessing, data augmentation, same splits for fairness</a:t>
            </a:r>
            <a:endParaRPr lang="en-US" dirty="0"/>
          </a:p>
          <a:p>
            <a:pPr marL="228600" lvl="1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In-depth R-CNN Backbone Analysis (Faster R-CNN focus):</a:t>
            </a:r>
          </a:p>
          <a:p>
            <a:pPr marL="0" indent="0">
              <a:buNone/>
            </a:pPr>
            <a:endParaRPr lang="en-US" dirty="0"/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ResNet-50: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Strong general-purpose backbone with pre-integrated FPN; only the classifier head is modified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MobileNetV3: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Lightweight and edge-optimized; a solid speed-accuracy trade-off with minimal tuning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EfficientNet-B0: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Custom setup with selected layers and FPN, balancing efficiency and accuracy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SqueezeNet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Ultra-compact, using fire modules and a 4-level FPN for constrained environments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ShuffleNetV2: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Highly efficient with dynamic FPN logic, ideal for real-time, low-power inference</a:t>
            </a:r>
          </a:p>
          <a:p>
            <a:pPr marL="2286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ConvNeXt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-Tiny: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Modern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ResNet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-style backbone with efficient FPN and strong representation quality</a:t>
            </a:r>
          </a:p>
          <a:p>
            <a:pPr marL="228600" lvl="1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Fine-tuning &amp; Optimization Strategies: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Regularization</a:t>
            </a:r>
            <a:r>
              <a:rPr lang="en-US" dirty="0">
                <a:ea typeface="+mn-lt"/>
                <a:cs typeface="+mn-lt"/>
              </a:rPr>
              <a:t>: L1, L2 to handle overfitting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Dropout</a:t>
            </a:r>
            <a:r>
              <a:rPr lang="en-US" dirty="0">
                <a:ea typeface="+mn-lt"/>
                <a:cs typeface="+mn-lt"/>
              </a:rPr>
              <a:t>: Finetune for robust generalization.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Learning Rate Schedules</a:t>
            </a:r>
            <a:r>
              <a:rPr lang="en-US" dirty="0">
                <a:ea typeface="+mn-lt"/>
                <a:cs typeface="+mn-lt"/>
              </a:rPr>
              <a:t>: Step decay, cosine adjustment to stabilize training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Data Augmentation</a:t>
            </a:r>
            <a:r>
              <a:rPr lang="en-US" dirty="0">
                <a:ea typeface="+mn-lt"/>
                <a:cs typeface="+mn-lt"/>
              </a:rPr>
              <a:t>: Reinforce resilience to environmental variability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B9F05FA8-B605-40D1-F085-C4439C394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2900" y="491432"/>
            <a:ext cx="3625143" cy="2262691"/>
          </a:xfrm>
          <a:prstGeom prst="rect">
            <a:avLst/>
          </a:prstGeom>
        </p:spPr>
      </p:pic>
      <p:pic>
        <p:nvPicPr>
          <p:cNvPr id="5" name="Picture 4" descr="Uploaded image">
            <a:extLst>
              <a:ext uri="{FF2B5EF4-FFF2-40B4-BE49-F238E27FC236}">
                <a16:creationId xmlns:a16="http://schemas.microsoft.com/office/drawing/2014/main" id="{5031B394-E468-3B95-DB14-FE587CE38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6566" y="3248378"/>
            <a:ext cx="4217810" cy="281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025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382D42-0B4D-B08B-AD2B-C65A44A82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547C1-12D9-E348-F522-D2215EC29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43AE5-5BB5-4482-8187-30CA7DB03EAF}" type="datetime1">
              <a:rPr lang="en-US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EED18-05B3-3F7E-FF45-65E9179B2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FF5E8-63B9-066E-ACBB-8CD1AD60B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8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E345EF2-5E6D-78CE-7318-569523854B3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4404195" cy="6587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Results: YOLOv8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9474D3FE-30D2-9582-9C8E-C458854865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52F640B2-CEBB-688A-DAAF-B85DDD5928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A collage of ships in the water&#10;&#10;AI-generated content may be incorrect.">
            <a:extLst>
              <a:ext uri="{FF2B5EF4-FFF2-40B4-BE49-F238E27FC236}">
                <a16:creationId xmlns:a16="http://schemas.microsoft.com/office/drawing/2014/main" id="{B2558DBA-14F2-F9F4-F8A2-5A0001053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126" y="128427"/>
            <a:ext cx="6501714" cy="640829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681D259-2A45-1E5E-8918-BCD4BE238B9B}"/>
              </a:ext>
            </a:extLst>
          </p:cNvPr>
          <p:cNvSpPr txBox="1"/>
          <p:nvPr/>
        </p:nvSpPr>
        <p:spPr>
          <a:xfrm>
            <a:off x="130631" y="778476"/>
            <a:ext cx="518860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YOLOv8-M</a:t>
            </a:r>
            <a:r>
              <a:rPr lang="en-US" dirty="0"/>
              <a:t>: Best overall performance</a:t>
            </a:r>
          </a:p>
          <a:p>
            <a:pPr lvl="1"/>
            <a:br>
              <a:rPr lang="en-US" dirty="0"/>
            </a:br>
            <a:r>
              <a:rPr lang="en-US" dirty="0"/>
              <a:t>• mAP@0.5: </a:t>
            </a:r>
            <a:r>
              <a:rPr lang="en-US" b="1" dirty="0"/>
              <a:t>0.8714</a:t>
            </a:r>
            <a:br>
              <a:rPr lang="en-US" dirty="0"/>
            </a:br>
            <a:r>
              <a:rPr lang="en-US" dirty="0"/>
              <a:t>• Precision: </a:t>
            </a:r>
            <a:r>
              <a:rPr lang="en-US" b="1" dirty="0"/>
              <a:t>0.8331</a:t>
            </a:r>
            <a:br>
              <a:rPr lang="en-US" dirty="0"/>
            </a:br>
            <a:r>
              <a:rPr lang="en-US" dirty="0"/>
              <a:t>• FPS: </a:t>
            </a:r>
            <a:r>
              <a:rPr lang="en-US" b="1" dirty="0"/>
              <a:t>34.86</a:t>
            </a:r>
          </a:p>
          <a:p>
            <a:br>
              <a:rPr lang="en-US" dirty="0"/>
            </a:br>
            <a:r>
              <a:rPr lang="en-US" i="1" u="sng" dirty="0"/>
              <a:t>Best balance of accuracy and speed</a:t>
            </a:r>
          </a:p>
          <a:p>
            <a:endParaRPr lang="en-US" i="1" u="sng" dirty="0"/>
          </a:p>
          <a:p>
            <a:r>
              <a:rPr lang="en-US" b="1" dirty="0"/>
              <a:t>YOLOv8-S</a:t>
            </a:r>
            <a:r>
              <a:rPr lang="en-US" dirty="0"/>
              <a:t>: Highest recall (</a:t>
            </a:r>
            <a:r>
              <a:rPr lang="en-US" b="1" dirty="0"/>
              <a:t>0.8526</a:t>
            </a:r>
            <a:r>
              <a:rPr lang="en-US" dirty="0"/>
              <a:t>)</a:t>
            </a:r>
          </a:p>
          <a:p>
            <a:pPr lvl="1"/>
            <a:br>
              <a:rPr lang="en-US" dirty="0"/>
            </a:br>
            <a:r>
              <a:rPr lang="en-US" dirty="0"/>
              <a:t>• Slightly lower precision and speed</a:t>
            </a:r>
            <a:br>
              <a:rPr lang="en-US" dirty="0"/>
            </a:br>
            <a:r>
              <a:rPr lang="en-US" dirty="0"/>
              <a:t>• Good choice when </a:t>
            </a:r>
            <a:r>
              <a:rPr lang="en-US" b="1" dirty="0"/>
              <a:t>maximizing detection coverage</a:t>
            </a:r>
            <a:r>
              <a:rPr lang="en-US" dirty="0"/>
              <a:t> is critical</a:t>
            </a:r>
            <a:endParaRPr lang="en-US" u="sng" dirty="0"/>
          </a:p>
          <a:p>
            <a:pPr lvl="1"/>
            <a:endParaRPr lang="en-US" u="sng" dirty="0"/>
          </a:p>
          <a:p>
            <a:r>
              <a:rPr lang="en-US" b="1" dirty="0"/>
              <a:t>YOLOv8-L</a:t>
            </a:r>
            <a:r>
              <a:rPr lang="en-US" dirty="0"/>
              <a:t>: Solid, but underwhelming</a:t>
            </a:r>
          </a:p>
          <a:p>
            <a:pPr lvl="1"/>
            <a:br>
              <a:rPr lang="en-US" dirty="0"/>
            </a:br>
            <a:r>
              <a:rPr lang="en-US" dirty="0"/>
              <a:t>• No accuracy gain over M</a:t>
            </a:r>
            <a:br>
              <a:rPr lang="en-US" dirty="0"/>
            </a:br>
            <a:r>
              <a:rPr lang="en-US" dirty="0"/>
              <a:t>• Slower inference (27.34 FPS) → </a:t>
            </a:r>
            <a:r>
              <a:rPr lang="en-US" i="1" dirty="0"/>
              <a:t>less efficient for real-time 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696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C0280A-A9FB-FCBD-EE1A-33849F9F9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BC961-C95E-0562-B541-623E0DFBE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EA491-0A2A-A6ED-5EB3-D41106688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9</a:t>
            </a:fld>
            <a:endParaRPr lang="en-US" dirty="0"/>
          </a:p>
        </p:txBody>
      </p:sp>
      <p:pic>
        <p:nvPicPr>
          <p:cNvPr id="12" name="Picture 11" descr="A graph of a graph&#10;&#10;AI-generated content may be incorrect.">
            <a:extLst>
              <a:ext uri="{FF2B5EF4-FFF2-40B4-BE49-F238E27FC236}">
                <a16:creationId xmlns:a16="http://schemas.microsoft.com/office/drawing/2014/main" id="{5D9AF4E3-B2E2-76D9-AE9D-F3CC3D0E42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02" y="132045"/>
            <a:ext cx="6246966" cy="3110469"/>
          </a:xfrm>
          <a:prstGeom prst="rect">
            <a:avLst/>
          </a:prstGeom>
        </p:spPr>
      </p:pic>
      <p:pic>
        <p:nvPicPr>
          <p:cNvPr id="16" name="Picture 15" descr="A diagram of a triangle&#10;&#10;AI-generated content may be incorrect.">
            <a:extLst>
              <a:ext uri="{FF2B5EF4-FFF2-40B4-BE49-F238E27FC236}">
                <a16:creationId xmlns:a16="http://schemas.microsoft.com/office/drawing/2014/main" id="{CB2552BA-4DD3-DEB6-28FA-D6D10AA51A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374" y="3404248"/>
            <a:ext cx="6776292" cy="332170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B9B297B-9CC5-FBB4-5465-8856755A3DD0}"/>
              </a:ext>
            </a:extLst>
          </p:cNvPr>
          <p:cNvSpPr txBox="1"/>
          <p:nvPr/>
        </p:nvSpPr>
        <p:spPr>
          <a:xfrm>
            <a:off x="7327556" y="1510539"/>
            <a:ext cx="1915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Training Results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F1E9C3-C49F-8563-3E82-11B567D88476}"/>
              </a:ext>
            </a:extLst>
          </p:cNvPr>
          <p:cNvSpPr txBox="1"/>
          <p:nvPr/>
        </p:nvSpPr>
        <p:spPr>
          <a:xfrm>
            <a:off x="278467" y="4880436"/>
            <a:ext cx="4188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Radar chart highlighting performance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9862BD4-8BD2-27E7-13B9-422554770FD2}"/>
              </a:ext>
            </a:extLst>
          </p:cNvPr>
          <p:cNvCxnSpPr>
            <a:stCxn id="12" idx="3"/>
            <a:endCxn id="17" idx="1"/>
          </p:cNvCxnSpPr>
          <p:nvPr/>
        </p:nvCxnSpPr>
        <p:spPr>
          <a:xfrm>
            <a:off x="6295768" y="1687280"/>
            <a:ext cx="1031788" cy="7925"/>
          </a:xfrm>
          <a:prstGeom prst="straightConnector1">
            <a:avLst/>
          </a:prstGeom>
          <a:ln w="158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975F708-2AB1-DD85-FE36-C3A1FA4BE3EA}"/>
              </a:ext>
            </a:extLst>
          </p:cNvPr>
          <p:cNvCxnSpPr>
            <a:stCxn id="18" idx="3"/>
            <a:endCxn id="16" idx="1"/>
          </p:cNvCxnSpPr>
          <p:nvPr/>
        </p:nvCxnSpPr>
        <p:spPr>
          <a:xfrm>
            <a:off x="4467299" y="5065102"/>
            <a:ext cx="741075" cy="0"/>
          </a:xfrm>
          <a:prstGeom prst="straightConnector1">
            <a:avLst/>
          </a:prstGeom>
          <a:ln w="158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259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13D3E4-B9E6-BA64-E459-D0CB7C6A3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18A1F-D6D2-1B15-AE34-644514109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43AE5-5BB5-4482-8187-30CA7DB03EAF}" type="datetime1">
              <a:rPr lang="en-US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BC019-45B0-EB1D-B3D9-868F0F96E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86595" y="6438329"/>
            <a:ext cx="2805405" cy="365125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DCF98-8472-EC00-D220-0153002E2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10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ED8339-D2D0-F023-B02E-0E72C8E09CC2}"/>
              </a:ext>
            </a:extLst>
          </p:cNvPr>
          <p:cNvSpPr txBox="1">
            <a:spLocks/>
          </p:cNvSpPr>
          <p:nvPr/>
        </p:nvSpPr>
        <p:spPr>
          <a:xfrm>
            <a:off x="0" y="-51240"/>
            <a:ext cx="5374201" cy="7108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Results: </a:t>
            </a:r>
            <a:r>
              <a:rPr lang="en-US" dirty="0" err="1"/>
              <a:t>EfficientDet</a:t>
            </a:r>
            <a:endParaRPr lang="en-US" dirty="0"/>
          </a:p>
        </p:txBody>
      </p:sp>
      <p:pic>
        <p:nvPicPr>
          <p:cNvPr id="9" name="Picture 8" descr="A aerial view of a city&#10;&#10;AI-generated content may be incorrect.">
            <a:extLst>
              <a:ext uri="{FF2B5EF4-FFF2-40B4-BE49-F238E27FC236}">
                <a16:creationId xmlns:a16="http://schemas.microsoft.com/office/drawing/2014/main" id="{0E6466C6-87C8-E70C-425E-0FFCD7872B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8498" y="3429000"/>
            <a:ext cx="3056400" cy="3056400"/>
          </a:xfrm>
          <a:prstGeom prst="rect">
            <a:avLst/>
          </a:prstGeom>
        </p:spPr>
      </p:pic>
      <p:pic>
        <p:nvPicPr>
          <p:cNvPr id="15" name="Picture 14" descr="A group of ships in water&#10;&#10;AI-generated content may be incorrect.">
            <a:extLst>
              <a:ext uri="{FF2B5EF4-FFF2-40B4-BE49-F238E27FC236}">
                <a16:creationId xmlns:a16="http://schemas.microsoft.com/office/drawing/2014/main" id="{D0F9FDBE-97CB-0AB9-4FC7-2BE09BB44F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7440" y="304206"/>
            <a:ext cx="2898517" cy="289851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50C0236-52BA-5E15-7093-3BD1B2607236}"/>
              </a:ext>
            </a:extLst>
          </p:cNvPr>
          <p:cNvSpPr txBox="1"/>
          <p:nvPr/>
        </p:nvSpPr>
        <p:spPr>
          <a:xfrm>
            <a:off x="223364" y="781777"/>
            <a:ext cx="822407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 err="1"/>
              <a:t>EfficientDet</a:t>
            </a:r>
            <a:r>
              <a:rPr lang="en-US" b="1" dirty="0"/>
              <a:t> – Final Metrics </a:t>
            </a:r>
          </a:p>
          <a:p>
            <a:pPr>
              <a:buNone/>
            </a:pPr>
            <a:endParaRPr lang="en-US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 Classification Loss</a:t>
            </a:r>
            <a:r>
              <a:rPr lang="en-US" dirty="0"/>
              <a:t>: 0.159</a:t>
            </a:r>
          </a:p>
          <a:p>
            <a:pPr lvl="1"/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 Regression Loss</a:t>
            </a:r>
            <a:r>
              <a:rPr lang="en-US" dirty="0"/>
              <a:t>: 0.179</a:t>
            </a:r>
          </a:p>
          <a:p>
            <a:pPr lvl="1"/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 Batch Loss</a:t>
            </a:r>
            <a:r>
              <a:rPr lang="en-US" dirty="0"/>
              <a:t>: 0.338</a:t>
            </a:r>
          </a:p>
          <a:p>
            <a:pPr lvl="1"/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 Total Loss</a:t>
            </a:r>
            <a:r>
              <a:rPr lang="en-US" dirty="0"/>
              <a:t>: 0.353</a:t>
            </a:r>
          </a:p>
          <a:p>
            <a:pPr lvl="1"/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/>
              <a:t> Training Duration</a:t>
            </a:r>
            <a:r>
              <a:rPr lang="en-US" dirty="0"/>
              <a:t>: 20 epochs</a:t>
            </a:r>
          </a:p>
          <a:p>
            <a:endParaRPr lang="en-US" dirty="0"/>
          </a:p>
          <a:p>
            <a:r>
              <a:rPr lang="en-US" b="1" dirty="0"/>
              <a:t>Data Tripling</a:t>
            </a:r>
            <a:r>
              <a:rPr lang="en-US" dirty="0"/>
              <a:t> via augmentation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Improved performance vs. 10-epoch baseline</a:t>
            </a:r>
            <a:r>
              <a:rPr lang="en-US" dirty="0"/>
              <a:t> (Total Loss: 0.681 → 0.353)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u="sng" dirty="0"/>
              <a:t>Only model set up to classify the </a:t>
            </a:r>
            <a:r>
              <a:rPr lang="en-US" b="1" i="1" u="sng" dirty="0"/>
              <a:t>type of vessel</a:t>
            </a:r>
            <a:r>
              <a:rPr lang="en-US" u="sng" dirty="0"/>
              <a:t>, not just location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213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91DB61-AFFD-223D-8402-62C5538EA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D0BFF-73EC-38FE-C728-514F1153F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43AE5-5BB5-4482-8187-30CA7DB03EAF}" type="datetime1">
              <a:rPr lang="en-US" smtClean="0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15CFF-8D11-589B-0FA4-39DD2598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DB4A4-2516-7990-D3DC-AE622E30D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11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AA05E7B-5433-02EC-9D12-23825ED3E3A1}"/>
              </a:ext>
            </a:extLst>
          </p:cNvPr>
          <p:cNvSpPr txBox="1">
            <a:spLocks/>
          </p:cNvSpPr>
          <p:nvPr/>
        </p:nvSpPr>
        <p:spPr>
          <a:xfrm>
            <a:off x="4494000" y="48328"/>
            <a:ext cx="3204000" cy="7108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 err="1"/>
              <a:t>EfficientDet</a:t>
            </a:r>
            <a:endParaRPr lang="en-US" dirty="0"/>
          </a:p>
        </p:txBody>
      </p:sp>
      <p:pic>
        <p:nvPicPr>
          <p:cNvPr id="13" name="Picture 12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5D2E172E-6F4D-C644-1777-B81597A74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317" y="1044557"/>
            <a:ext cx="8155155" cy="512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92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4F4E2B-EAE9-8687-8C2A-0A004CE56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FDABD-78E6-FE7E-E5D2-FDB131A1B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43AE5-5BB5-4482-8187-30CA7DB03EAF}" type="datetime1">
              <a:rPr lang="en-US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48228-BE58-CA6B-83BA-8D12963F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1F456-4AF1-FED7-DACA-A2B01620E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12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565DE64-9D06-9721-632C-B8CE8AA547AD}"/>
              </a:ext>
            </a:extLst>
          </p:cNvPr>
          <p:cNvSpPr txBox="1">
            <a:spLocks/>
          </p:cNvSpPr>
          <p:nvPr/>
        </p:nvSpPr>
        <p:spPr>
          <a:xfrm>
            <a:off x="-66974" y="0"/>
            <a:ext cx="5794330" cy="6614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Results: Faster R-CNN</a:t>
            </a:r>
          </a:p>
        </p:txBody>
      </p:sp>
      <p:pic>
        <p:nvPicPr>
          <p:cNvPr id="23" name="Picture 22" descr="A aerial view of a city&#10;&#10;AI-generated content may be incorrect.">
            <a:extLst>
              <a:ext uri="{FF2B5EF4-FFF2-40B4-BE49-F238E27FC236}">
                <a16:creationId xmlns:a16="http://schemas.microsoft.com/office/drawing/2014/main" id="{AEF80D95-AA13-DF81-8BEA-A3B2CB10DD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420" y="2347005"/>
            <a:ext cx="2905793" cy="1751661"/>
          </a:xfrm>
          <a:prstGeom prst="rect">
            <a:avLst/>
          </a:prstGeom>
        </p:spPr>
      </p:pic>
      <p:pic>
        <p:nvPicPr>
          <p:cNvPr id="25" name="Picture 24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A03F7141-861A-80E4-3DC8-444F0377C6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420" y="330732"/>
            <a:ext cx="2956419" cy="1796932"/>
          </a:xfrm>
          <a:prstGeom prst="rect">
            <a:avLst/>
          </a:prstGeom>
        </p:spPr>
      </p:pic>
      <p:pic>
        <p:nvPicPr>
          <p:cNvPr id="27" name="Picture 26" descr="A aerial view of a city&#10;&#10;AI-generated content may be incorrect.">
            <a:extLst>
              <a:ext uri="{FF2B5EF4-FFF2-40B4-BE49-F238E27FC236}">
                <a16:creationId xmlns:a16="http://schemas.microsoft.com/office/drawing/2014/main" id="{174C8625-C7A6-38CB-ADFE-CDD86087E9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9992" y="1366612"/>
            <a:ext cx="2905793" cy="1684852"/>
          </a:xfrm>
          <a:prstGeom prst="rect">
            <a:avLst/>
          </a:prstGeom>
        </p:spPr>
      </p:pic>
      <p:pic>
        <p:nvPicPr>
          <p:cNvPr id="29" name="Picture 28" descr="A satellite image of a city&#10;&#10;AI-generated content may be incorrect.">
            <a:extLst>
              <a:ext uri="{FF2B5EF4-FFF2-40B4-BE49-F238E27FC236}">
                <a16:creationId xmlns:a16="http://schemas.microsoft.com/office/drawing/2014/main" id="{2950D216-B8D3-B4EA-F792-8254C61727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419" y="4228008"/>
            <a:ext cx="2905793" cy="1796932"/>
          </a:xfrm>
          <a:prstGeom prst="rect">
            <a:avLst/>
          </a:prstGeom>
        </p:spPr>
      </p:pic>
      <p:pic>
        <p:nvPicPr>
          <p:cNvPr id="31" name="Picture 30" descr="A ship in the water&#10;&#10;AI-generated content may be incorrect.">
            <a:extLst>
              <a:ext uri="{FF2B5EF4-FFF2-40B4-BE49-F238E27FC236}">
                <a16:creationId xmlns:a16="http://schemas.microsoft.com/office/drawing/2014/main" id="{AF4998ED-C44F-A733-A2AD-96AA7FF81F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0728" y="3537690"/>
            <a:ext cx="2905793" cy="173814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4D5C531-B910-2AAF-1E01-F1B4CC2C8AC2}"/>
              </a:ext>
            </a:extLst>
          </p:cNvPr>
          <p:cNvSpPr txBox="1"/>
          <p:nvPr/>
        </p:nvSpPr>
        <p:spPr>
          <a:xfrm>
            <a:off x="65524" y="956281"/>
            <a:ext cx="5845456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200" b="1" dirty="0"/>
              <a:t>ResNet-50 (</a:t>
            </a:r>
            <a:r>
              <a:rPr lang="en-US" sz="1200" dirty="0" err="1"/>
              <a:t>mAP</a:t>
            </a:r>
            <a:r>
              <a:rPr lang="en-US" sz="1200" dirty="0"/>
              <a:t>: 0.4738)</a:t>
            </a:r>
            <a:endParaRPr lang="en-US" sz="1200" b="1" dirty="0"/>
          </a:p>
          <a:p>
            <a:pPr>
              <a:buNone/>
            </a:pPr>
            <a:br>
              <a:rPr lang="en-US" sz="1200" dirty="0"/>
            </a:br>
            <a:r>
              <a:rPr lang="en-US" sz="1200" dirty="0"/>
              <a:t>→ Best overall </a:t>
            </a:r>
            <a:r>
              <a:rPr lang="en-US" sz="1200" b="1" dirty="0"/>
              <a:t>detection accuracy</a:t>
            </a:r>
            <a:r>
              <a:rPr lang="en-US" sz="1200" dirty="0"/>
              <a:t>, but was slow and resource-heavy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b="1" dirty="0"/>
              <a:t>MobileNet-V3 (</a:t>
            </a:r>
            <a:r>
              <a:rPr lang="en-US" sz="1200" dirty="0" err="1"/>
              <a:t>mAP</a:t>
            </a:r>
            <a:r>
              <a:rPr lang="en-US" sz="1200" dirty="0"/>
              <a:t>: 0.3662)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→ Best </a:t>
            </a:r>
            <a:r>
              <a:rPr lang="en-US" sz="1200" b="1" dirty="0"/>
              <a:t>speed-accuracy trade-off</a:t>
            </a:r>
            <a:r>
              <a:rPr lang="en-US" sz="1200" dirty="0"/>
              <a:t>, suitable for real-time applications with limited compute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b="1" dirty="0"/>
              <a:t>EfficientNet-B0 (</a:t>
            </a:r>
            <a:r>
              <a:rPr lang="en-US" sz="1200" dirty="0" err="1"/>
              <a:t>mAP</a:t>
            </a:r>
            <a:r>
              <a:rPr lang="en-US" sz="1200" dirty="0"/>
              <a:t>: 0.2123)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→ Moderate recall but poor precision; a </a:t>
            </a:r>
            <a:r>
              <a:rPr lang="en-US" sz="1200" b="1" dirty="0"/>
              <a:t>middle-ground</a:t>
            </a:r>
            <a:r>
              <a:rPr lang="en-US" sz="1200" dirty="0"/>
              <a:t> option with limited utility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b="1" dirty="0"/>
              <a:t>ShuffleNet-V2 (</a:t>
            </a:r>
            <a:r>
              <a:rPr lang="en-US" sz="1200" dirty="0" err="1"/>
              <a:t>mAP</a:t>
            </a:r>
            <a:r>
              <a:rPr lang="en-US" sz="1200" dirty="0"/>
              <a:t>: 0.0448)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→ Fast but extremely low accuracy — </a:t>
            </a:r>
            <a:r>
              <a:rPr lang="en-US" sz="1200" b="1" dirty="0"/>
              <a:t>not suitable</a:t>
            </a:r>
            <a:r>
              <a:rPr lang="en-US" sz="1200" dirty="0"/>
              <a:t> for high-resolution vessel detection.</a:t>
            </a:r>
          </a:p>
          <a:p>
            <a:pPr>
              <a:buNone/>
            </a:pPr>
            <a:endParaRPr lang="en-US" sz="1200" dirty="0"/>
          </a:p>
          <a:p>
            <a:pPr>
              <a:buNone/>
            </a:pPr>
            <a:r>
              <a:rPr lang="en-US" sz="1200" b="1" dirty="0" err="1"/>
              <a:t>SqueezeNet</a:t>
            </a:r>
            <a:r>
              <a:rPr lang="en-US" sz="1200" b="1" dirty="0"/>
              <a:t> (</a:t>
            </a:r>
            <a:r>
              <a:rPr lang="en-US" sz="1200" dirty="0" err="1"/>
              <a:t>mAP</a:t>
            </a:r>
            <a:r>
              <a:rPr lang="en-US" sz="1200" dirty="0"/>
              <a:t>: 0.1714)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→ Small and deployable, but </a:t>
            </a:r>
            <a:r>
              <a:rPr lang="en-US" sz="1200" b="1" dirty="0"/>
              <a:t>too weak</a:t>
            </a:r>
            <a:r>
              <a:rPr lang="en-US" sz="1200" dirty="0"/>
              <a:t> for meaningful results.</a:t>
            </a:r>
          </a:p>
          <a:p>
            <a:pPr>
              <a:buNone/>
            </a:pPr>
            <a:endParaRPr lang="en-US" sz="1200" dirty="0"/>
          </a:p>
          <a:p>
            <a:r>
              <a:rPr lang="en-US" sz="1200" b="1" dirty="0" err="1"/>
              <a:t>ConvNeXt</a:t>
            </a:r>
            <a:r>
              <a:rPr lang="en-US" sz="1200" b="1" dirty="0"/>
              <a:t>-Tiny (</a:t>
            </a:r>
            <a:r>
              <a:rPr lang="en-US" sz="1200" dirty="0" err="1"/>
              <a:t>mAP</a:t>
            </a:r>
            <a:r>
              <a:rPr lang="en-US" sz="1200" dirty="0"/>
              <a:t>: 0.1009)</a:t>
            </a:r>
            <a:endParaRPr lang="en-US" sz="1200" b="1" dirty="0"/>
          </a:p>
          <a:p>
            <a:br>
              <a:rPr lang="en-US" sz="1200" dirty="0"/>
            </a:br>
            <a:r>
              <a:rPr lang="en-US" sz="1200" dirty="0"/>
              <a:t>→ Slowest and underperformed on all fronts — </a:t>
            </a:r>
            <a:r>
              <a:rPr lang="en-US" sz="1200" b="1" dirty="0"/>
              <a:t>not viable</a:t>
            </a:r>
            <a:r>
              <a:rPr lang="en-US" sz="1200" dirty="0"/>
              <a:t> for continued use.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891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2AB1DE-1F26-82DD-BFA1-63CBF1BBC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BB7CA-807D-F848-2F07-B73AF8CF3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43AE5-5BB5-4482-8187-30CA7DB03EAF}" type="datetime1">
              <a:rPr lang="en-US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57436-9BBE-5307-6FA3-301912679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9071B-BC42-BDD2-2799-C12F03507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13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0867FB1-10C7-2716-B9DD-39D499C6C948}"/>
              </a:ext>
            </a:extLst>
          </p:cNvPr>
          <p:cNvSpPr txBox="1">
            <a:spLocks/>
          </p:cNvSpPr>
          <p:nvPr/>
        </p:nvSpPr>
        <p:spPr>
          <a:xfrm>
            <a:off x="4484893" y="0"/>
            <a:ext cx="5794330" cy="6614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Faster R-CNN</a:t>
            </a:r>
          </a:p>
        </p:txBody>
      </p:sp>
      <p:pic>
        <p:nvPicPr>
          <p:cNvPr id="9" name="Picture 8" descr="A group of blue triangles&#10;&#10;AI-generated content may be incorrect.">
            <a:extLst>
              <a:ext uri="{FF2B5EF4-FFF2-40B4-BE49-F238E27FC236}">
                <a16:creationId xmlns:a16="http://schemas.microsoft.com/office/drawing/2014/main" id="{742FF58E-1233-89E4-599B-5F392DCA6B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0433" y="819543"/>
            <a:ext cx="8691133" cy="575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171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EE16B1-2D21-48C4-85C0-41280BA47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7020F-874D-3223-A4C0-2A5C2E51B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43AE5-5BB5-4482-8187-30CA7DB03EAF}" type="datetime1">
              <a:rPr lang="en-US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CDE36-4CBF-3F54-9942-E932A608D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86106-19D3-4906-D0F3-1DBE5B23E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14</a:t>
            </a:fld>
            <a:endParaRPr lang="en-US" dirty="0"/>
          </a:p>
        </p:txBody>
      </p:sp>
      <p:pic>
        <p:nvPicPr>
          <p:cNvPr id="12" name="Picture 11" descr="A chart of different colored bars&#10;&#10;AI-generated content may be incorrect.">
            <a:extLst>
              <a:ext uri="{FF2B5EF4-FFF2-40B4-BE49-F238E27FC236}">
                <a16:creationId xmlns:a16="http://schemas.microsoft.com/office/drawing/2014/main" id="{FCED89F9-5076-BA08-B47B-FA1BF990E9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035" y="170748"/>
            <a:ext cx="7769929" cy="630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09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FAA668-4803-812E-217B-F35F3FF2A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70C25-E296-4017-6D03-ABD2737F17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574" y="5876738"/>
            <a:ext cx="4864475" cy="758826"/>
          </a:xfrm>
        </p:spPr>
        <p:txBody>
          <a:bodyPr>
            <a:normAutofit fontScale="90000"/>
          </a:bodyPr>
          <a:lstStyle/>
          <a:p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Cloud Coverage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In this image, dense cloud cover makes it difficult to detect the ship, highlighting how environmental conditions can obscure targets and reduce model reliability.</a:t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AFD788-52E2-FE15-B386-08055732E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43AE5-5BB5-4482-8187-30CA7DB03EAF}" type="datetime1">
              <a:rPr lang="en-US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5861F-BBB4-801A-ADF9-C0751B6A8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9F96E-E7FA-279B-7DA6-77ED3A9D9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15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1E2634-F265-009B-2DEE-4F6BF49EADA4}"/>
              </a:ext>
            </a:extLst>
          </p:cNvPr>
          <p:cNvSpPr txBox="1">
            <a:spLocks/>
          </p:cNvSpPr>
          <p:nvPr/>
        </p:nvSpPr>
        <p:spPr>
          <a:xfrm>
            <a:off x="3813826" y="0"/>
            <a:ext cx="5794330" cy="6614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Interesting Finds</a:t>
            </a:r>
          </a:p>
        </p:txBody>
      </p:sp>
      <p:pic>
        <p:nvPicPr>
          <p:cNvPr id="8" name="Picture 7" descr="Aerial view of a parking lot&#10;&#10;AI-generated content may be incorrect.">
            <a:extLst>
              <a:ext uri="{FF2B5EF4-FFF2-40B4-BE49-F238E27FC236}">
                <a16:creationId xmlns:a16="http://schemas.microsoft.com/office/drawing/2014/main" id="{1987B9A3-EEF2-4A52-B6CD-BD20F780AB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574" y="1096727"/>
            <a:ext cx="4809761" cy="3333750"/>
          </a:xfrm>
          <a:prstGeom prst="rect">
            <a:avLst/>
          </a:prstGeom>
        </p:spPr>
      </p:pic>
      <p:pic>
        <p:nvPicPr>
          <p:cNvPr id="14" name="Picture 13" descr="A aerial view of a city&#10;&#10;AI-generated content may be incorrect.">
            <a:extLst>
              <a:ext uri="{FF2B5EF4-FFF2-40B4-BE49-F238E27FC236}">
                <a16:creationId xmlns:a16="http://schemas.microsoft.com/office/drawing/2014/main" id="{B88A5B27-AC82-FE7B-A1E1-8B48330309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008" y="1096727"/>
            <a:ext cx="4877026" cy="333375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D85F1E58-3525-0966-A879-46CE0D32A799}"/>
              </a:ext>
            </a:extLst>
          </p:cNvPr>
          <p:cNvSpPr txBox="1">
            <a:spLocks/>
          </p:cNvSpPr>
          <p:nvPr/>
        </p:nvSpPr>
        <p:spPr>
          <a:xfrm>
            <a:off x="6342692" y="5102492"/>
            <a:ext cx="5558368" cy="18078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dirty="0"/>
              <a:t>The Sandbar Problem</a:t>
            </a:r>
          </a:p>
          <a:p>
            <a:pPr algn="l">
              <a:lnSpc>
                <a:spcPct val="120000"/>
              </a:lnSpc>
            </a:pP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We have a very complex scene here. The model correctly identified the target but misclassified a sandbar as a vessel with 87% confidence, revealing the difficulty of distinguishing similar-looking structures.</a:t>
            </a:r>
          </a:p>
          <a:p>
            <a:pPr algn="l">
              <a:lnSpc>
                <a:spcPct val="120000"/>
              </a:lnSpc>
            </a:pPr>
            <a:endParaRPr lang="en-US" sz="4800" b="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234F126-2D60-A58D-3C23-42E5F80BBD61}"/>
              </a:ext>
            </a:extLst>
          </p:cNvPr>
          <p:cNvCxnSpPr>
            <a:cxnSpLocks/>
          </p:cNvCxnSpPr>
          <p:nvPr/>
        </p:nvCxnSpPr>
        <p:spPr>
          <a:xfrm>
            <a:off x="1420347" y="3550500"/>
            <a:ext cx="1280972" cy="1456241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E69D382-BC5D-B0E7-E55D-4B907D190A56}"/>
              </a:ext>
            </a:extLst>
          </p:cNvPr>
          <p:cNvCxnSpPr/>
          <p:nvPr/>
        </p:nvCxnSpPr>
        <p:spPr>
          <a:xfrm flipV="1">
            <a:off x="828295" y="3395433"/>
            <a:ext cx="1184105" cy="2780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9D67F6A-5678-A05B-30CB-ADB29EFFF29D}"/>
              </a:ext>
            </a:extLst>
          </p:cNvPr>
          <p:cNvCxnSpPr>
            <a:cxnSpLocks/>
          </p:cNvCxnSpPr>
          <p:nvPr/>
        </p:nvCxnSpPr>
        <p:spPr>
          <a:xfrm>
            <a:off x="7451124" y="4102443"/>
            <a:ext cx="1085603" cy="763296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7659953-7B52-961D-47E6-BFA48BAB5B20}"/>
              </a:ext>
            </a:extLst>
          </p:cNvPr>
          <p:cNvCxnSpPr>
            <a:cxnSpLocks/>
          </p:cNvCxnSpPr>
          <p:nvPr/>
        </p:nvCxnSpPr>
        <p:spPr>
          <a:xfrm>
            <a:off x="8173664" y="1961003"/>
            <a:ext cx="702857" cy="2904736"/>
          </a:xfrm>
          <a:prstGeom prst="straightConnector1">
            <a:avLst/>
          </a:prstGeom>
          <a:ln w="254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3288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4E51A1-54F8-5DDD-0BA1-5230A1ED3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2375F-486C-EFD0-3007-D1082D79F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43AE5-5BB5-4482-8187-30CA7DB03EAF}" type="datetime1">
              <a:rPr lang="en-US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04255-9EE7-1CAF-5D40-4997C9261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C1D15-4E9E-B36A-3BAA-F8CCAE04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16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B983BD2-2002-BBA6-7A5F-B756075AE4E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5794330" cy="6614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Conclusion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6EAC62-3873-0A0E-7DAE-5C6F3136BCE4}"/>
              </a:ext>
            </a:extLst>
          </p:cNvPr>
          <p:cNvSpPr txBox="1"/>
          <p:nvPr/>
        </p:nvSpPr>
        <p:spPr>
          <a:xfrm>
            <a:off x="137160" y="971984"/>
            <a:ext cx="1191279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Research Questions:</a:t>
            </a:r>
          </a:p>
          <a:p>
            <a:pPr>
              <a:buNone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 Best backbone for Faster R-CNN for accurate vessel localization?</a:t>
            </a:r>
          </a:p>
          <a:p>
            <a:br>
              <a:rPr lang="en-US" dirty="0"/>
            </a:br>
            <a:r>
              <a:rPr lang="en-US" dirty="0"/>
              <a:t>→ </a:t>
            </a:r>
            <a:r>
              <a:rPr lang="en-US" i="1" dirty="0"/>
              <a:t>Faster R-CNN + ResNet-50</a:t>
            </a:r>
            <a:r>
              <a:rPr lang="en-US" dirty="0"/>
              <a:t>, though slow, had the highest localization precision</a:t>
            </a:r>
          </a:p>
          <a:p>
            <a:endParaRPr lang="en-US" dirty="0"/>
          </a:p>
          <a:p>
            <a:r>
              <a:rPr lang="en-US" b="1" dirty="0"/>
              <a:t>2. Impact of backbone networks?</a:t>
            </a:r>
          </a:p>
          <a:p>
            <a:br>
              <a:rPr lang="en-US" dirty="0"/>
            </a:br>
            <a:r>
              <a:rPr lang="en-US" dirty="0"/>
              <a:t>→ Backbones significantly affected both speed and accuracy. ResNet-50 maximized precision, MobileNetV3 offered strong balance, and ShuffleNetV2/</a:t>
            </a:r>
            <a:r>
              <a:rPr lang="en-US" dirty="0" err="1"/>
              <a:t>SqueezeNet</a:t>
            </a:r>
            <a:r>
              <a:rPr lang="en-US" dirty="0"/>
              <a:t> were too weak for complex scenes</a:t>
            </a:r>
          </a:p>
          <a:p>
            <a:endParaRPr lang="en-US" dirty="0"/>
          </a:p>
          <a:p>
            <a:r>
              <a:rPr lang="en-US" b="1" dirty="0"/>
              <a:t>3. Best model trade-off?</a:t>
            </a:r>
          </a:p>
          <a:p>
            <a:br>
              <a:rPr lang="en-US" dirty="0"/>
            </a:br>
            <a:r>
              <a:rPr lang="en-US" dirty="0"/>
              <a:t>→ </a:t>
            </a:r>
            <a:r>
              <a:rPr lang="en-US" i="1" dirty="0"/>
              <a:t>YOLOv8-M</a:t>
            </a:r>
            <a:r>
              <a:rPr lang="en-US" dirty="0"/>
              <a:t> was absolutely the most balanced model, combining high accuracy (mAP@0.5 of 0.8714) with great inference, making it ideal for practical deployment for this use case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062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854E0-E3F9-723D-A792-2330A4130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4298" y="2618740"/>
            <a:ext cx="4881428" cy="1132258"/>
          </a:xfrm>
        </p:spPr>
        <p:txBody>
          <a:bodyPr/>
          <a:lstStyle/>
          <a:p>
            <a:r>
              <a:rPr lang="en-US" dirty="0"/>
              <a:t>Thanks for listening!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6F0EF-7532-D4E6-FD3F-519D8E7FE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43AE5-5BB5-4482-8187-30CA7DB03EAF}" type="datetime1">
              <a:rPr lang="en-US"/>
              <a:t>4/30/2025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18C23-72F6-0C04-60C9-A86E6818C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5029D-5B20-E553-3EA7-908F403D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28787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VTI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Vanilla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Vanilla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AACC6CF0-9F86-48CC-9C4E-CA578EE0A0A0}" vid="{3BDE51FE-56D6-4100-AFB5-5B4AEDCE2E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195</TotalTime>
  <Words>1102</Words>
  <Application>Microsoft Office PowerPoint</Application>
  <PresentationFormat>Widescreen</PresentationFormat>
  <Paragraphs>204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Courier New</vt:lpstr>
      <vt:lpstr>Neue Haas Grotesk Text Pro</vt:lpstr>
      <vt:lpstr>Wingdings</vt:lpstr>
      <vt:lpstr>Wingdings,Sans-Serif</vt:lpstr>
      <vt:lpstr>VanillaVTI</vt:lpstr>
      <vt:lpstr>Maritime Vessel Detection</vt:lpstr>
      <vt:lpstr>Group 10</vt:lpstr>
      <vt:lpstr>Problem Statement </vt:lpstr>
      <vt:lpstr>Motivation &amp; Challenges</vt:lpstr>
      <vt:lpstr>Dataset Overview </vt:lpstr>
      <vt:lpstr>Augmentation &amp; Preprocessing</vt:lpstr>
      <vt:lpstr>Proposed Methodology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Cloud Coverage  In this image, dense cloud cover makes it difficult to detect the ship, highlighting how environmental conditions can obscure targets and reduce model reliability. </vt:lpstr>
      <vt:lpstr>PowerPoint Presentation</vt:lpstr>
      <vt:lpstr>Thanks for listening!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Zach Holland</cp:lastModifiedBy>
  <cp:revision>535</cp:revision>
  <dcterms:created xsi:type="dcterms:W3CDTF">2013-07-15T20:26:40Z</dcterms:created>
  <dcterms:modified xsi:type="dcterms:W3CDTF">2025-05-01T00:35:27Z</dcterms:modified>
</cp:coreProperties>
</file>